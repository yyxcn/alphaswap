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26"/>
  </p:normalViewPr>
  <p:slideViewPr>
    <p:cSldViewPr snapToGrid="0" snapToObjects="1">
      <p:cViewPr varScale="1">
        <p:scale>
          <a:sx n="97" d="100"/>
          <a:sy n="97" d="100"/>
        </p:scale>
        <p:origin x="61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AAD8F-67B9-D946-97D3-4BBBC88F12AD}" type="datetimeFigureOut">
              <a:rPr kumimoji="1" lang="ko-KR" altLang="en-US" smtClean="0"/>
              <a:t>2026. 4. 16.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0550A-2CE2-B340-A604-0758ED35C25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822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550A-2CE2-B340-A604-0758ED35C257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649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0550A-2CE2-B340-A604-0758ED35C257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3181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yxcn/AlphaSwa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AE176"/>
                </a:solidFill>
                <a:latin typeface="Arial"/>
              </a:defRPr>
            </a:pPr>
            <a:r>
              <a:t>ALPHASWAP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AI-Powered DeFi Trading Agent on BNB Smart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55705"/>
            <a:ext cx="1280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EA3AE"/>
                </a:solidFill>
                <a:latin typeface="Arial"/>
              </a:defRPr>
            </a:pPr>
            <a:r>
              <a:rPr dirty="0"/>
              <a:t>BNB Hack 2026</a:t>
            </a:r>
            <a:r>
              <a:rPr lang="en-US" dirty="0"/>
              <a:t>  </a:t>
            </a:r>
            <a:r>
              <a:rPr lang="ko-KR" altLang="en-US" dirty="0"/>
              <a:t>정승연 </a:t>
            </a:r>
            <a:r>
              <a:rPr lang="en-US" altLang="ko-KR" dirty="0"/>
              <a:t>Charles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943600" cy="2286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077940"/>
            <a:ext cx="53035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rPr dirty="0"/>
              <a:t>Rule-Based Bots Are Blind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rPr dirty="0"/>
              <a:t>"Buy when RSI &lt; 30" — but what if whales are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rPr dirty="0"/>
              <a:t>dumping BNB to exchanges at the same time?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rPr dirty="0"/>
              <a:t>Single-indicator rules can't handle conflicting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5943600" cy="2286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0" y="20779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No On-Chain Transparency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Existing bots execute trades with zero auditability.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Users can't verify why a trade was made.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No on-chain record of AI decision-making.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5943600" cy="2286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48211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High Gas = Impractical AI Agents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AI agents need frequent analysis + execution.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On Ethereum: $5+ per tx. Recording AI reasoning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on-chain? Economically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572000"/>
            <a:ext cx="5943600" cy="2286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48211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Manual Trading Fatigue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Crypto markets run 24/7. Humans can't monitor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indicators, whale movements, and price action</a:t>
            </a:r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around the clock.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Arial"/>
              </a:defRPr>
            </a:pPr>
            <a:r>
              <a:t>AlphaSwap — AI that thinks like a trader, executes like a bot, records like a blockchain.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931920" cy="36576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66908" y="3083780"/>
            <a:ext cx="329184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176"/>
                </a:solidFill>
                <a:latin typeface="Arial"/>
              </a:defRPr>
            </a:pPr>
            <a:r>
              <a:rPr dirty="0"/>
              <a:t>AI Confluence Analysis</a:t>
            </a: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Claude AI synthesizes 5 indicators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+ on-chain whale data into a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holistic BUY / SELL / HOLD judgment.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rPr dirty="0"/>
              <a:t>RSI + MACD + MA + Bollinger + Whale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2743200"/>
            <a:ext cx="3931920" cy="36576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1991" y="3083780"/>
            <a:ext cx="346875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176"/>
                </a:solidFill>
                <a:latin typeface="Arial"/>
              </a:defRPr>
            </a:pPr>
            <a:r>
              <a:rPr dirty="0"/>
              <a:t>Autonomous Execution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Every </a:t>
            </a:r>
            <a:r>
              <a:rPr lang="en-US" dirty="0"/>
              <a:t>interval</a:t>
            </a:r>
            <a:r>
              <a:rPr dirty="0"/>
              <a:t> seconds: analyze</a:t>
            </a: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market,</a:t>
            </a:r>
            <a:r>
              <a:rPr lang="en-US" dirty="0"/>
              <a:t> </a:t>
            </a:r>
            <a:r>
              <a:rPr dirty="0"/>
              <a:t>decide, and execute </a:t>
            </a: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lang="en-US" altLang="ko-KR" dirty="0"/>
              <a:t>—</a:t>
            </a:r>
            <a:r>
              <a:rPr lang="ko-KR" altLang="en-US" dirty="0"/>
              <a:t> </a:t>
            </a:r>
            <a:r>
              <a:rPr lang="en" dirty="0"/>
              <a:t>fully</a:t>
            </a:r>
            <a:r>
              <a:rPr lang="ko-KR" altLang="en-US" dirty="0"/>
              <a:t> </a:t>
            </a:r>
            <a:r>
              <a:rPr lang="en" dirty="0"/>
              <a:t>automated</a:t>
            </a:r>
            <a:r>
              <a:rPr lang="en-US" altLang="ko-KR" dirty="0"/>
              <a:t>.</a:t>
            </a:r>
            <a:endParaRPr lang="en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lang="en" dirty="0"/>
              <a:t>Users deposit to Vault, AI trades on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their behalf.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743200"/>
            <a:ext cx="3931920" cy="36576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96832" y="3083780"/>
            <a:ext cx="356616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E176"/>
                </a:solidFill>
                <a:latin typeface="Arial"/>
              </a:defRPr>
            </a:pPr>
            <a:r>
              <a:rPr dirty="0"/>
              <a:t>On-Chain Transparency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endParaRPr lang="en-US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Every trade + AI reasoning stored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on-chain in </a:t>
            </a:r>
            <a:r>
              <a:rPr dirty="0" err="1"/>
              <a:t>TradeRegistry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Anyone can audit why a trade</a:t>
            </a:r>
            <a:endParaRPr lang="en"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lang="en" dirty="0"/>
              <a:t>was made. Full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rPr dirty="0"/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EA3AE"/>
                </a:solidFill>
                <a:latin typeface="Arial"/>
              </a:defRPr>
            </a:pPr>
            <a:r>
              <a:rPr dirty="0"/>
              <a:t>Every </a:t>
            </a:r>
            <a:r>
              <a:rPr lang="en-US" dirty="0"/>
              <a:t>interval</a:t>
            </a:r>
            <a:r>
              <a:rPr dirty="0"/>
              <a:t> seconds — fully automated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108960" cy="384048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E17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PancakeSwap V3 slot0()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Binance 1H OHLCV (41 days)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BSCScan whale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560320"/>
            <a:ext cx="3108960" cy="384048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E17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Technical Indicators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RSI(14) · MACD(12/26/9)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SMA(20/50/200) · EMA(12/26)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Bollinger Bands(20, 2σ)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560320"/>
            <a:ext cx="3108960" cy="384048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E17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AI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Claude evaluates confluence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of all indicators + whale data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→ BUY/SELL/HOLD +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18520" y="2560320"/>
            <a:ext cx="3108960" cy="384048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014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E17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Auto-Execute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Confidence ≥ 70% → swap via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Vault contract on BSC Testnet</a:t>
            </a:r>
          </a:p>
          <a:p>
            <a:pPr>
              <a:spcBef>
                <a:spcPts val="400"/>
              </a:spcBef>
              <a:defRPr sz="1500" b="0">
                <a:solidFill>
                  <a:srgbClr val="9EA3AE"/>
                </a:solidFill>
                <a:latin typeface="Arial"/>
              </a:defRPr>
            </a:pPr>
            <a:r>
              <a:t>Trade recorded on-chain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7176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E176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6176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E176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5176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AE176"/>
                </a:solidFill>
                <a:latin typeface="Arial"/>
              </a:defRPr>
            </a:pPr>
            <a:r>
              <a:rPr dirty="0"/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93B7B45C-DE20-4FA9-5A12-11573A5B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63" y="1065475"/>
            <a:ext cx="11667176" cy="29949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0CA380D-2947-501E-27FB-6298F083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47" y="1215224"/>
            <a:ext cx="4579179" cy="73152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BA58E29-7F6A-DD75-F5D0-50B2BF513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826" y="1048247"/>
            <a:ext cx="3246783" cy="47702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9773967-2D30-888D-425D-65D2EDD19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1346" y="1215223"/>
            <a:ext cx="391491" cy="158098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BD25ED3-6DF0-4146-EA7B-F3CFC3A8F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480312" y="790491"/>
            <a:ext cx="159027" cy="1580985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1C771F7-BF5F-9486-6ADB-E7F79B84F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063" y="1471349"/>
            <a:ext cx="1815546" cy="625145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F66C79B-B44F-EB97-26D7-C598FC481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01" y="1522011"/>
            <a:ext cx="13948198" cy="5710004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47CA224-CAEF-7D66-E8D5-A743AB80A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968" y="7287190"/>
            <a:ext cx="5067300" cy="5334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4477119-F914-31DD-3D8A-AA789F618B93}"/>
              </a:ext>
            </a:extLst>
          </p:cNvPr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rPr lang="en-US" dirty="0"/>
              <a:t>ARCHITECTURE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t>WHY BNB SMART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2801600" cy="128016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334371"/>
            <a:ext cx="2034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E176"/>
                </a:solidFill>
                <a:latin typeface="Arial"/>
              </a:defRPr>
            </a:pPr>
            <a:r>
              <a:rPr dirty="0"/>
              <a:t>$0.03 / </a:t>
            </a:r>
            <a:r>
              <a:rPr dirty="0" err="1"/>
              <a:t>tx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988906" y="2254857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Low Gas = AI Agent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88906" y="2712057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rPr dirty="0"/>
              <a:t>On Ethereum that's $5+/</a:t>
            </a:r>
            <a:r>
              <a:rPr dirty="0" err="1"/>
              <a:t>tx</a:t>
            </a:r>
            <a:r>
              <a:rPr dirty="0"/>
              <a:t>. BSC makes AI agents economically viable.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20440"/>
            <a:ext cx="12801600" cy="128016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84313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E176"/>
                </a:solidFill>
                <a:latin typeface="Arial"/>
              </a:defRPr>
            </a:pPr>
            <a:r>
              <a:t>3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8906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Fast Block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8906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r>
              <a:t>Signal → execution in one block.</a:t>
            </a:r>
          </a:p>
          <a:p>
            <a:pPr>
              <a:spcBef>
                <a:spcPts val="2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AI decisions are acted on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12801600" cy="128016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5351891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E176"/>
                </a:solidFill>
                <a:latin typeface="Arial"/>
              </a:defRPr>
            </a:pPr>
            <a:r>
              <a:rPr dirty="0"/>
              <a:t>slot0()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8906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PancakeSwap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8906" y="5623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r>
              <a:t>Direct price reads from PancakeSwap V3.</a:t>
            </a:r>
          </a:p>
          <a:p>
            <a:pPr>
              <a:spcBef>
                <a:spcPts val="2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Deepest BNB/USDT liquidity on any DEX.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6537959"/>
            <a:ext cx="12801600" cy="128016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6860651"/>
            <a:ext cx="20342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E176"/>
                </a:solidFill>
                <a:latin typeface="Arial"/>
              </a:defRPr>
            </a:pPr>
            <a:r>
              <a:rPr dirty="0" err="1"/>
              <a:t>BSCScan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3988906" y="6675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Rich On-Chain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8906" y="7132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r>
              <a:t>Whale transfer detection via BSCScan API.</a:t>
            </a:r>
          </a:p>
          <a:p>
            <a:pPr>
              <a:spcBef>
                <a:spcPts val="2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Exchange flow analysis for market sentiment.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t>KEY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EA3AE"/>
                </a:solidFill>
                <a:latin typeface="Arial"/>
              </a:defRPr>
            </a:pPr>
            <a:r>
              <a:t>Not a rule-based bot — AI holistic judgment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6400800" cy="41148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Arial"/>
              </a:defRPr>
            </a:pPr>
            <a:r>
              <a:t>Traditional Bot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Bef>
                <a:spcPts val="800"/>
              </a:spcBef>
              <a:defRPr sz="1800" b="1">
                <a:solidFill>
                  <a:srgbClr val="9EA3AE"/>
                </a:solidFill>
                <a:latin typeface="Arial"/>
              </a:defRPr>
            </a:pPr>
            <a:r>
              <a:t>if RSI &lt; 30:  BUY</a:t>
            </a:r>
          </a:p>
          <a:p>
            <a:pPr>
              <a:spcBef>
                <a:spcPts val="800"/>
              </a:spcBef>
              <a:defRPr sz="1800" b="1">
                <a:solidFill>
                  <a:srgbClr val="9EA3AE"/>
                </a:solidFill>
                <a:latin typeface="Arial"/>
              </a:defRPr>
            </a:pPr>
            <a:r>
              <a:t>if RSI &gt; 70:  SELL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Bef>
                <a:spcPts val="800"/>
              </a:spcBef>
              <a:defRPr sz="1600" b="0">
                <a:solidFill>
                  <a:srgbClr val="9EA3AE"/>
                </a:solidFill>
                <a:latin typeface="Arial"/>
              </a:defRPr>
            </a:pPr>
            <a:r>
              <a:t>RSI says buy, but whales are dumping?</a:t>
            </a:r>
          </a:p>
          <a:p>
            <a:pPr>
              <a:spcBef>
                <a:spcPts val="800"/>
              </a:spcBef>
              <a:defRPr sz="1600" b="0">
                <a:solidFill>
                  <a:srgbClr val="FF6B6B"/>
                </a:solidFill>
                <a:latin typeface="Arial"/>
              </a:defRPr>
            </a:pPr>
            <a:r>
              <a:t>Bot buys anyway. Gets rekt.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743200"/>
            <a:ext cx="5943600" cy="41148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E176"/>
                </a:solidFill>
                <a:latin typeface="Arial"/>
              </a:defRPr>
            </a:pPr>
            <a:r>
              <a:rPr dirty="0" err="1"/>
              <a:t>AlphaSwap</a:t>
            </a:r>
            <a:r>
              <a:rPr dirty="0"/>
              <a:t> AI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"RSI at 32 suggests oversold, but 3 whale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transfers are depositing large BNB to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exchanges — signaling sell pressure.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MACD histogram still expanding negative.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Safer to delay the buy entry."</a:t>
            </a:r>
          </a:p>
          <a:p>
            <a:pPr>
              <a:spcBef>
                <a:spcPts val="800"/>
              </a:spcBef>
              <a:defRPr sz="800" b="0">
                <a:solidFill>
                  <a:srgbClr val="FFFFFF"/>
                </a:solidFill>
                <a:latin typeface="Arial"/>
              </a:defRPr>
            </a:pPr>
            <a:endParaRPr dirty="0"/>
          </a:p>
          <a:p>
            <a:pPr>
              <a:spcBef>
                <a:spcPts val="800"/>
              </a:spcBef>
              <a:defRPr sz="1800" b="1">
                <a:solidFill>
                  <a:srgbClr val="4AE176"/>
                </a:solidFill>
                <a:latin typeface="Arial"/>
              </a:defRPr>
            </a:pPr>
            <a:r>
              <a:rPr dirty="0"/>
              <a:t>→ HOLD (confidence 45%)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4AE176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4572000"/>
          </a:xfrm>
          <a:prstGeom prst="roundRect">
            <a:avLst/>
          </a:prstGeom>
          <a:solidFill>
            <a:srgbClr val="0B1326"/>
          </a:solidFill>
          <a:ln w="25400">
            <a:solidFill>
              <a:srgbClr val="4AE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E176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Hackathon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Arial"/>
              </a:defRPr>
            </a:pPr>
            <a:r>
              <a:t>• BNB/USDT single pair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Arial"/>
              </a:defRPr>
            </a:pPr>
            <a:r>
              <a:t>• 1H indicators + whale detection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Arial"/>
              </a:defRPr>
            </a:pPr>
            <a:r>
              <a:t>• BSC Testnet + simulation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E176"/>
                </a:solidFill>
                <a:latin typeface="Arial"/>
              </a:defRPr>
            </a:pPr>
            <a:r>
              <a:t>← WE ARE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286000"/>
            <a:ext cx="2560320" cy="4572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EA3AE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On-Chain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6576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PancakeSwap pool event parsing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Network gas utilization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CAKE APR data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560320" cy="4572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EA3AE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Multi-Pair + Mainnet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Multiple trading pairs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PancakeSwap V3 mainnet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Backtesting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59" y="2286000"/>
            <a:ext cx="2560320" cy="4572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EA3AE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Account Abstraction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36576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ERC-4337 Paymaster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Gas fees paid in USDT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Seamless 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12880" y="2286000"/>
            <a:ext cx="2560320" cy="4572000"/>
          </a:xfrm>
          <a:prstGeom prst="roundRect">
            <a:avLst/>
          </a:prstGeom>
          <a:solidFill>
            <a:srgbClr val="0B1326"/>
          </a:solidFill>
          <a:ln w="6350">
            <a:solidFill>
              <a:srgbClr val="3D4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59" y="2468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EA3AE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9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Strategy Marketplace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9" y="365760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A3AE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Copy trading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Strategy sharing</a:t>
            </a:r>
          </a:p>
          <a:p>
            <a:pPr>
              <a:spcBef>
                <a:spcPts val="600"/>
              </a:spcBef>
              <a:defRPr sz="1400" b="0">
                <a:solidFill>
                  <a:srgbClr val="9EA3AE"/>
                </a:solidFill>
                <a:latin typeface="Arial"/>
              </a:defRPr>
            </a:pPr>
            <a:r>
              <a:t>• Multi-chain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AE176"/>
                </a:solidFill>
                <a:latin typeface="Arial"/>
              </a:defRPr>
            </a:pPr>
            <a:r>
              <a:t>ALPHASWAP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rPr dirty="0"/>
              <a:t>AI Thinks. BSC Executes. On-Chain Verifies.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280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EA3AE"/>
                </a:solidFill>
                <a:latin typeface="Arial"/>
              </a:defRPr>
            </a:pPr>
            <a:r>
              <a:rPr lang="en" dirty="0">
                <a:hlinkClick r:id="rId2"/>
              </a:rPr>
              <a:t>https://</a:t>
            </a:r>
            <a:r>
              <a:rPr lang="en" dirty="0" err="1">
                <a:hlinkClick r:id="rId2"/>
              </a:rPr>
              <a:t>github.com</a:t>
            </a:r>
            <a:r>
              <a:rPr lang="en" dirty="0">
                <a:hlinkClick r:id="rId2"/>
              </a:rPr>
              <a:t>/</a:t>
            </a:r>
            <a:r>
              <a:rPr lang="en" dirty="0" err="1">
                <a:hlinkClick r:id="rId2"/>
              </a:rPr>
              <a:t>yyxcn</a:t>
            </a:r>
            <a:r>
              <a:rPr lang="en" dirty="0">
                <a:hlinkClick r:id="rId2"/>
              </a:rPr>
              <a:t>/</a:t>
            </a:r>
            <a:r>
              <a:rPr lang="en" dirty="0" err="1">
                <a:hlinkClick r:id="rId2"/>
              </a:rPr>
              <a:t>AlphaSwap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610</Words>
  <Application>Microsoft Macintosh PowerPoint</Application>
  <PresentationFormat>사용자 지정</PresentationFormat>
  <Paragraphs>143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 승연</cp:lastModifiedBy>
  <cp:revision>19</cp:revision>
  <dcterms:created xsi:type="dcterms:W3CDTF">2013-01-27T09:14:16Z</dcterms:created>
  <dcterms:modified xsi:type="dcterms:W3CDTF">2026-04-16T03:32:15Z</dcterms:modified>
  <cp:category/>
</cp:coreProperties>
</file>